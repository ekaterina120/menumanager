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  <p:sldId id="265" r:id="rId4"/>
    <p:sldId id="258" r:id="rId5"/>
    <p:sldId id="259" r:id="rId6"/>
    <p:sldId id="260" r:id="rId7"/>
    <p:sldId id="262" r:id="rId8"/>
    <p:sldId id="263" r:id="rId9"/>
    <p:sldId id="266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8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77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1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3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17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2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36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59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7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4461" y="294798"/>
            <a:ext cx="7343078" cy="2899063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lang="en" sz="96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MenuManager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7390" y="2743202"/>
            <a:ext cx="6546273" cy="2410521"/>
          </a:xfrm>
          <a:ln>
            <a:noFill/>
          </a:ln>
        </p:spPr>
        <p:txBody>
          <a:bodyPr>
            <a:normAutofit/>
          </a:bodyPr>
          <a:lstStyle/>
          <a:p>
            <a:pPr>
              <a:defRPr sz="2200">
                <a:solidFill>
                  <a:srgbClr val="3C285A"/>
                </a:solidFill>
              </a:defRPr>
            </a:pPr>
            <a:r>
              <a:rPr lang="ru-RU" sz="3600" b="1" dirty="0"/>
              <a:t>Приложение для управления ресторанным меню и ингредиентами</a:t>
            </a:r>
            <a:endParaRPr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52D5C-98C2-900C-9544-DD913C4FBBF6}"/>
              </a:ext>
            </a:extLst>
          </p:cNvPr>
          <p:cNvSpPr txBox="1"/>
          <p:nvPr/>
        </p:nvSpPr>
        <p:spPr>
          <a:xfrm>
            <a:off x="4519685" y="4718934"/>
            <a:ext cx="32406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ru-RU" b="1" dirty="0">
                <a:solidFill>
                  <a:prstClr val="black"/>
                </a:solidFill>
                <a:latin typeface="Calibri"/>
              </a:rPr>
              <a:t>Киселева Екатерина, 408ИС-22</a:t>
            </a:r>
          </a:p>
          <a:p>
            <a:pPr defTabSz="457200"/>
            <a:r>
              <a:rPr lang="ru-RU" b="1" dirty="0">
                <a:solidFill>
                  <a:prstClr val="black"/>
                </a:solidFill>
                <a:latin typeface="Calibri"/>
              </a:rPr>
              <a:t>Руководитель: Кусков Ф.В.</a:t>
            </a:r>
          </a:p>
          <a:p>
            <a:pPr defTabSz="457200"/>
            <a:endParaRPr lang="ru-RU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573D0-73FB-82B7-36D0-D40A3CAE5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526256"/>
            <a:ext cx="8229600" cy="662622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План проекта</a:t>
            </a:r>
            <a:br>
              <a:rPr lang="ru-RU" dirty="0">
                <a:solidFill>
                  <a:schemeClr val="accent4"/>
                </a:solidFill>
              </a:rPr>
            </a:b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7F1AE9-AFA3-4C96-8EAC-A5CA1230E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3045" y="1050333"/>
            <a:ext cx="8229600" cy="6149182"/>
          </a:xfrm>
        </p:spPr>
        <p:txBody>
          <a:bodyPr>
            <a:noAutofit/>
          </a:bodyPr>
          <a:lstStyle/>
          <a:p>
            <a:r>
              <a:rPr lang="ru-RU" sz="2800" b="1" dirty="0"/>
              <a:t>Анализ предметной области и постановка задачи</a:t>
            </a:r>
            <a:endParaRPr lang="ru-RU" sz="2800" dirty="0"/>
          </a:p>
          <a:p>
            <a:r>
              <a:rPr lang="ru-RU" sz="2800" b="1" dirty="0"/>
              <a:t>Исследование существующих решений</a:t>
            </a:r>
            <a:endParaRPr lang="ru-RU" sz="2800" dirty="0"/>
          </a:p>
          <a:p>
            <a:r>
              <a:rPr lang="ru-RU" sz="2800" b="1" dirty="0"/>
              <a:t>Определение целевой аудитории и потребностей</a:t>
            </a:r>
            <a:endParaRPr lang="ru-RU" sz="2800" dirty="0"/>
          </a:p>
          <a:p>
            <a:r>
              <a:rPr lang="ru-RU" sz="2800" b="1" dirty="0"/>
              <a:t>Формулировка функциональных и нефункциональных требований</a:t>
            </a:r>
            <a:endParaRPr lang="ru-RU" sz="2800" dirty="0"/>
          </a:p>
          <a:p>
            <a:r>
              <a:rPr lang="ru-RU" sz="2800" b="1" dirty="0"/>
              <a:t>Проектирование архитектуры и интерфейса</a:t>
            </a:r>
            <a:endParaRPr lang="ru-RU" sz="2800" dirty="0"/>
          </a:p>
          <a:p>
            <a:r>
              <a:rPr lang="ru-RU" sz="2800" b="1" dirty="0"/>
              <a:t>Реализация базового функционала</a:t>
            </a:r>
            <a:endParaRPr lang="ru-RU" sz="2800" dirty="0"/>
          </a:p>
          <a:p>
            <a:r>
              <a:rPr lang="ru-RU" sz="2800" b="1" dirty="0"/>
              <a:t>Реализация дополнительных функций</a:t>
            </a:r>
            <a:endParaRPr lang="ru-RU" sz="2800" dirty="0"/>
          </a:p>
          <a:p>
            <a:r>
              <a:rPr lang="ru-RU" sz="2800" b="1" dirty="0"/>
              <a:t>Тестирование и отладка</a:t>
            </a:r>
            <a:endParaRPr lang="ru-RU" sz="2800" dirty="0"/>
          </a:p>
          <a:p>
            <a:r>
              <a:rPr lang="ru-RU" sz="2800" b="1" dirty="0"/>
              <a:t>Документирование проекта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55740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lang="ru-RU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Идея проекта</a:t>
            </a:r>
            <a:endParaRPr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Основная идея </a:t>
            </a:r>
            <a:r>
              <a:rPr lang="ru-RU" b="1" dirty="0" err="1"/>
              <a:t>MenuManager</a:t>
            </a:r>
            <a:r>
              <a:rPr lang="ru-RU" dirty="0"/>
              <a:t> — создание удобного и функционального приложения для управления меню, ингредиентами и стоп-листом в ресторане.</a:t>
            </a:r>
          </a:p>
          <a:p>
            <a:pPr marL="0" indent="0">
              <a:buNone/>
            </a:pPr>
            <a:r>
              <a:rPr lang="ru-RU" dirty="0"/>
              <a:t>Приложение помогает:</a:t>
            </a:r>
          </a:p>
          <a:p>
            <a:pPr marL="514350" indent="382588">
              <a:buFont typeface="+mj-lt"/>
              <a:buAutoNum type="arabicPeriod"/>
            </a:pPr>
            <a:r>
              <a:rPr lang="ru-RU" dirty="0"/>
              <a:t>Контролировать остатки ингредиентов</a:t>
            </a:r>
          </a:p>
          <a:p>
            <a:pPr marL="514350" indent="382588">
              <a:buFont typeface="+mj-lt"/>
              <a:buAutoNum type="arabicPeriod"/>
            </a:pPr>
            <a:r>
              <a:rPr lang="ru-RU" dirty="0"/>
              <a:t>Управлять доступностью блюд</a:t>
            </a:r>
          </a:p>
          <a:p>
            <a:pPr marL="514350" indent="382588">
              <a:buFont typeface="+mj-lt"/>
              <a:buAutoNum type="arabicPeriod"/>
            </a:pPr>
            <a:r>
              <a:rPr lang="ru-RU" dirty="0"/>
              <a:t>Автоматизировать формирование стоп-листа</a:t>
            </a:r>
          </a:p>
          <a:p>
            <a:pPr marL="514350" indent="382588">
              <a:buFont typeface="+mj-lt"/>
              <a:buAutoNum type="arabicPeriod"/>
            </a:pPr>
            <a:r>
              <a:rPr lang="ru-RU" dirty="0"/>
              <a:t>Упростить взаимодействие между клиентом, поваром и администратором</a:t>
            </a:r>
          </a:p>
          <a:p>
            <a:r>
              <a:rPr lang="ru-RU" b="1" dirty="0"/>
              <a:t>Целевая аудитория</a:t>
            </a:r>
            <a:r>
              <a:rPr lang="ru-RU" dirty="0"/>
              <a:t>: рестораны, кафе, столовые, </a:t>
            </a:r>
            <a:r>
              <a:rPr lang="ru-RU" dirty="0" err="1"/>
              <a:t>фуд</a:t>
            </a:r>
            <a:r>
              <a:rPr lang="ru-RU" dirty="0"/>
              <a:t>-траки.</a:t>
            </a:r>
          </a:p>
          <a:p>
            <a:pPr marL="0" indent="0">
              <a:buNone/>
              <a:defRPr sz="2500">
                <a:solidFill>
                  <a:srgbClr val="F0F0F0"/>
                </a:solidFill>
              </a:defRPr>
            </a:pP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81200" y="1280160"/>
            <a:ext cx="8229600" cy="4572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Основной</a:t>
            </a:r>
            <a:r>
              <a:rPr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функционал</a:t>
            </a:r>
            <a:endParaRPr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err="1"/>
              <a:t>Трёхролевая</a:t>
            </a:r>
            <a:r>
              <a:rPr lang="ru-RU" b="1" dirty="0"/>
              <a:t> система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Клиент: просмотр меню</a:t>
            </a:r>
          </a:p>
          <a:p>
            <a:pPr lvl="1"/>
            <a:r>
              <a:rPr lang="ru-RU" dirty="0"/>
              <a:t>Повар: управление ингредиентами, стоп-лист</a:t>
            </a:r>
          </a:p>
          <a:p>
            <a:pPr lvl="1"/>
            <a:r>
              <a:rPr lang="ru-RU" dirty="0"/>
              <a:t>Администратор: управление блюдами, статистика</a:t>
            </a:r>
          </a:p>
          <a:p>
            <a:r>
              <a:rPr lang="ru-RU" b="1" dirty="0"/>
              <a:t>Управление ингредиентами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Добавление, изменение, списание</a:t>
            </a:r>
          </a:p>
          <a:p>
            <a:pPr lvl="1"/>
            <a:r>
              <a:rPr lang="ru-RU" dirty="0"/>
              <a:t>Автоматический контроль остатков</a:t>
            </a:r>
          </a:p>
          <a:p>
            <a:r>
              <a:rPr lang="ru-RU" b="1" dirty="0"/>
              <a:t>Стоп-лист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Автоматическое скрытие блюд при нехватке ингредиентов</a:t>
            </a:r>
          </a:p>
          <a:p>
            <a:pPr lvl="1"/>
            <a:r>
              <a:rPr lang="ru-RU" dirty="0"/>
              <a:t>Возможность восстановления</a:t>
            </a:r>
          </a:p>
          <a:p>
            <a:r>
              <a:rPr lang="ru-RU" b="1" dirty="0"/>
              <a:t>Аналитика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Статистика по блюдам и ингредиентам</a:t>
            </a:r>
          </a:p>
          <a:p>
            <a:pPr marL="0" indent="0">
              <a:buNone/>
              <a:defRPr sz="2500">
                <a:solidFill>
                  <a:srgbClr val="F0F0F0"/>
                </a:solidFill>
              </a:defRPr>
            </a:pP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81200" y="1280160"/>
            <a:ext cx="8229600" cy="4572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Архитектура</a:t>
            </a:r>
            <a:r>
              <a:rPr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проекта</a:t>
            </a:r>
            <a:endParaRPr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Проект основан на </a:t>
            </a:r>
            <a:r>
              <a:rPr lang="ru-RU" b="1" dirty="0"/>
              <a:t>модульной архитектуре</a:t>
            </a:r>
            <a:r>
              <a:rPr lang="ru-RU" dirty="0"/>
              <a:t> с разделением по ролям:</a:t>
            </a:r>
          </a:p>
          <a:p>
            <a:pPr indent="19050"/>
            <a:r>
              <a:rPr lang="ru-RU" dirty="0"/>
              <a:t>Клиентский модуль (просмотр меню)</a:t>
            </a:r>
          </a:p>
          <a:p>
            <a:pPr indent="19050"/>
            <a:r>
              <a:rPr lang="ru-RU" dirty="0"/>
              <a:t>Поварской модуль (управление ингредиентами, стоп-лист)</a:t>
            </a:r>
          </a:p>
          <a:p>
            <a:pPr indent="19050"/>
            <a:r>
              <a:rPr lang="ru-RU" dirty="0"/>
              <a:t>Административный модуль (управление блюдами, статистика)</a:t>
            </a:r>
          </a:p>
          <a:p>
            <a:pPr marL="0" indent="0">
              <a:buNone/>
            </a:pPr>
            <a:r>
              <a:rPr lang="ru-RU" b="1" dirty="0"/>
              <a:t>Используемые подходы</a:t>
            </a:r>
            <a:r>
              <a:rPr lang="ru-RU" dirty="0"/>
              <a:t>:</a:t>
            </a:r>
          </a:p>
          <a:p>
            <a:pPr indent="98425"/>
            <a:r>
              <a:rPr lang="ru-RU" dirty="0"/>
              <a:t>Локальная база данных (</a:t>
            </a:r>
            <a:r>
              <a:rPr lang="ru-RU" dirty="0" err="1"/>
              <a:t>SQLite</a:t>
            </a:r>
            <a:r>
              <a:rPr lang="ru-RU" dirty="0"/>
              <a:t>) для хранения меню и ингредиентов</a:t>
            </a:r>
          </a:p>
          <a:p>
            <a:pPr indent="98425"/>
            <a:r>
              <a:rPr lang="ru-RU" dirty="0" err="1"/>
              <a:t>Material</a:t>
            </a:r>
            <a:r>
              <a:rPr lang="ru-RU" dirty="0"/>
              <a:t> Design для единого стиля интерфейса</a:t>
            </a:r>
          </a:p>
          <a:p>
            <a:pPr indent="98425"/>
            <a:r>
              <a:rPr lang="ru-RU" dirty="0"/>
              <a:t>Навигация через фрагменты и </a:t>
            </a:r>
            <a:r>
              <a:rPr lang="ru-RU" dirty="0" err="1"/>
              <a:t>BottomNavigation</a:t>
            </a:r>
            <a:endParaRPr lang="ru-RU" dirty="0"/>
          </a:p>
          <a:p>
            <a:pPr indent="98425"/>
            <a:r>
              <a:rPr lang="ru-RU" dirty="0"/>
              <a:t>Обработка данных в фоновых потоках</a:t>
            </a:r>
          </a:p>
          <a:p>
            <a:pPr marL="0" indent="0">
              <a:buNone/>
              <a:defRPr sz="2200">
                <a:solidFill>
                  <a:srgbClr val="3C285A"/>
                </a:solidFill>
              </a:defRPr>
            </a:pPr>
            <a:endParaRPr lang="en" dirty="0"/>
          </a:p>
        </p:txBody>
      </p:sp>
      <p:sp>
        <p:nvSpPr>
          <p:cNvPr id="4" name="Rectangle 3"/>
          <p:cNvSpPr/>
          <p:nvPr/>
        </p:nvSpPr>
        <p:spPr>
          <a:xfrm>
            <a:off x="1981200" y="1280160"/>
            <a:ext cx="8229600" cy="4572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Используемые</a:t>
            </a:r>
            <a:r>
              <a:rPr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технологии</a:t>
            </a:r>
            <a:endParaRPr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JAVA + Android Studio</a:t>
            </a:r>
            <a:r>
              <a:rPr lang="en-US" dirty="0"/>
              <a:t> — </a:t>
            </a:r>
            <a:r>
              <a:rPr lang="ru-RU" dirty="0"/>
              <a:t>основной стек разработки</a:t>
            </a:r>
          </a:p>
          <a:p>
            <a:r>
              <a:rPr lang="en-US" b="1" dirty="0"/>
              <a:t>SQLite</a:t>
            </a:r>
            <a:r>
              <a:rPr lang="en-US" dirty="0"/>
              <a:t> — </a:t>
            </a:r>
            <a:r>
              <a:rPr lang="ru-RU" dirty="0"/>
              <a:t>локальное хранение меню и ингредиентов</a:t>
            </a:r>
          </a:p>
          <a:p>
            <a:r>
              <a:rPr lang="en-US" b="1" dirty="0"/>
              <a:t>Material Design</a:t>
            </a:r>
            <a:r>
              <a:rPr lang="en-US" dirty="0"/>
              <a:t> — </a:t>
            </a:r>
            <a:r>
              <a:rPr lang="ru-RU" dirty="0"/>
              <a:t>современный и удобный интерфейс</a:t>
            </a:r>
          </a:p>
          <a:p>
            <a:r>
              <a:rPr lang="en-US" b="1" dirty="0"/>
              <a:t>Navigation Component</a:t>
            </a:r>
            <a:r>
              <a:rPr lang="en-US" dirty="0"/>
              <a:t> — </a:t>
            </a:r>
            <a:r>
              <a:rPr lang="ru-RU" dirty="0"/>
              <a:t>безопасная навигация между экранами</a:t>
            </a:r>
          </a:p>
          <a:p>
            <a:r>
              <a:rPr lang="en-US" b="1" dirty="0"/>
              <a:t>Git/GitHub</a:t>
            </a:r>
            <a:r>
              <a:rPr lang="en-US" dirty="0"/>
              <a:t> — </a:t>
            </a:r>
            <a:r>
              <a:rPr lang="ru-RU" dirty="0"/>
              <a:t>контроль версий и командная работа</a:t>
            </a:r>
          </a:p>
          <a:p>
            <a:pPr marL="0" indent="0">
              <a:buNone/>
              <a:defRPr sz="2500">
                <a:solidFill>
                  <a:srgbClr val="F0F0F0"/>
                </a:solidFill>
              </a:defRPr>
            </a:pP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81200" y="1280160"/>
            <a:ext cx="8229600" cy="4572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Планы</a:t>
            </a:r>
            <a:r>
              <a:rPr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развития</a:t>
            </a:r>
            <a:endParaRPr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Автоматическое формирование закупок</a:t>
            </a:r>
            <a:r>
              <a:rPr lang="ru-RU" dirty="0"/>
              <a:t> при низких остатках</a:t>
            </a:r>
          </a:p>
          <a:p>
            <a:r>
              <a:rPr lang="ru-RU" b="1" dirty="0"/>
              <a:t>Расширенная аналитика</a:t>
            </a:r>
            <a:r>
              <a:rPr lang="ru-RU" dirty="0"/>
              <a:t> по продажам и популярности блюд</a:t>
            </a:r>
          </a:p>
          <a:p>
            <a:r>
              <a:rPr lang="ru-RU" b="1" dirty="0"/>
              <a:t>Модуль для поставщиков</a:t>
            </a:r>
            <a:r>
              <a:rPr lang="ru-RU" dirty="0"/>
              <a:t> — автоматические заявки на доставку</a:t>
            </a:r>
          </a:p>
          <a:p>
            <a:r>
              <a:rPr lang="ru-RU" b="1" dirty="0"/>
              <a:t>Интеграция с онлайн-заказами</a:t>
            </a:r>
            <a:r>
              <a:rPr lang="ru-RU" dirty="0"/>
              <a:t> (</a:t>
            </a:r>
            <a:r>
              <a:rPr lang="ru-RU" dirty="0" err="1"/>
              <a:t>Telegram</a:t>
            </a:r>
            <a:r>
              <a:rPr lang="ru-RU" dirty="0"/>
              <a:t>, сайт)</a:t>
            </a:r>
          </a:p>
          <a:p>
            <a:endParaRPr lang="ru-RU" dirty="0"/>
          </a:p>
          <a:p>
            <a:pPr marL="0" indent="0">
              <a:buNone/>
              <a:defRPr sz="2500">
                <a:solidFill>
                  <a:srgbClr val="F0F0F0"/>
                </a:solidFill>
              </a:defRPr>
            </a:pP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81200" y="1280160"/>
            <a:ext cx="8229600" cy="4572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Выводы</a:t>
            </a:r>
            <a:endParaRPr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 err="1"/>
              <a:t>MenuManager</a:t>
            </a:r>
            <a:r>
              <a:rPr lang="ru-RU" dirty="0"/>
              <a:t> — это современное, функциональное и удобное решение для управления ресторанным меню. Приложение:</a:t>
            </a:r>
          </a:p>
          <a:p>
            <a:pPr indent="193675"/>
            <a:r>
              <a:rPr lang="ru-RU" dirty="0"/>
              <a:t>Упрощает работу повара и администратора</a:t>
            </a:r>
          </a:p>
          <a:p>
            <a:pPr indent="193675"/>
            <a:r>
              <a:rPr lang="ru-RU" dirty="0"/>
              <a:t>Повышает точность контроля ингредиентов</a:t>
            </a:r>
          </a:p>
          <a:p>
            <a:pPr indent="193675"/>
            <a:r>
              <a:rPr lang="ru-RU" dirty="0"/>
              <a:t>Улучшает клиентский опыт через QR-меню</a:t>
            </a:r>
          </a:p>
          <a:p>
            <a:pPr indent="193675"/>
            <a:r>
              <a:rPr lang="ru-RU" dirty="0"/>
              <a:t>Готово к масштабированию и интеграции с внешними системами</a:t>
            </a:r>
          </a:p>
          <a:p>
            <a:pPr marL="0" indent="0">
              <a:buNone/>
            </a:pPr>
            <a:r>
              <a:rPr lang="ru-RU" dirty="0"/>
              <a:t>Проект реализован с использованием актуальных технологий и готов к дальнейшему развитию.</a:t>
            </a:r>
          </a:p>
          <a:p>
            <a:pPr marL="0" indent="0">
              <a:buNone/>
              <a:defRPr sz="2500">
                <a:solidFill>
                  <a:srgbClr val="F0F0F0"/>
                </a:solidFill>
              </a:defRPr>
            </a:pP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81200" y="1280160"/>
            <a:ext cx="8229600" cy="4572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C12F25-B42C-B919-3269-B2BD18F8B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F680F-952E-2666-D5BE-2C0D1C1BE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9678C8"/>
                </a:solidFill>
              </a:defRPr>
            </a:pPr>
            <a:r>
              <a:rPr lang="ru-RU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Демонстрация</a:t>
            </a:r>
            <a:endParaRPr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5E81A6-37C8-CCC3-FF1C-8067220E8AEE}"/>
              </a:ext>
            </a:extLst>
          </p:cNvPr>
          <p:cNvSpPr/>
          <p:nvPr/>
        </p:nvSpPr>
        <p:spPr>
          <a:xfrm>
            <a:off x="1981200" y="1280160"/>
            <a:ext cx="8229600" cy="4572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E5501A5-41A9-BBD2-7B8B-38B3936C1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779" y="1417639"/>
            <a:ext cx="2113038" cy="452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39A6F1-C11A-D365-58DC-0DCDDB8AF8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010" y="1417639"/>
            <a:ext cx="2014799" cy="452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E91C8A-6670-AFF6-8AA5-39ACD1CAB7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17639"/>
            <a:ext cx="2058374" cy="452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C2CAF28-B337-4E9D-0EDA-FDA5592AD1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566" y="1417638"/>
            <a:ext cx="2064940" cy="4525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4317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344</Words>
  <Application>Microsoft Office PowerPoint</Application>
  <PresentationFormat>Широкоэкранный</PresentationFormat>
  <Paragraphs>64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MenuManager</vt:lpstr>
      <vt:lpstr>План проекта </vt:lpstr>
      <vt:lpstr>Идея проекта</vt:lpstr>
      <vt:lpstr>Основной функционал</vt:lpstr>
      <vt:lpstr>Архитектура проекта</vt:lpstr>
      <vt:lpstr>Используемые технологии</vt:lpstr>
      <vt:lpstr>Планы развития</vt:lpstr>
      <vt:lpstr>Выводы</vt:lpstr>
      <vt:lpstr>Демонстрация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Екатерина Киселёва</dc:creator>
  <cp:lastModifiedBy>Екатерина Киселёва</cp:lastModifiedBy>
  <cp:revision>1</cp:revision>
  <dcterms:created xsi:type="dcterms:W3CDTF">2025-12-14T16:49:02Z</dcterms:created>
  <dcterms:modified xsi:type="dcterms:W3CDTF">2025-12-14T16:52:14Z</dcterms:modified>
</cp:coreProperties>
</file>